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8"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96"/>
  </p:normalViewPr>
  <p:slideViewPr>
    <p:cSldViewPr snapToGrid="0">
      <p:cViewPr varScale="1">
        <p:scale>
          <a:sx n="95" d="100"/>
          <a:sy n="95" d="100"/>
        </p:scale>
        <p:origin x="200"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C38288-3DF5-4642-AAD5-F59559AC83CC}" type="datetimeFigureOut">
              <a:rPr kumimoji="1" lang="zh-CN" altLang="en-US" smtClean="0"/>
              <a:t>2026/9/27</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A703EF-8C60-BF4D-8197-874F1E2C0D24}" type="slidenum">
              <a:rPr kumimoji="1" lang="zh-CN" altLang="en-US" smtClean="0"/>
              <a:t>‹#›</a:t>
            </a:fld>
            <a:endParaRPr kumimoji="1" lang="zh-CN" altLang="en-US"/>
          </a:p>
        </p:txBody>
      </p:sp>
    </p:spTree>
    <p:extLst>
      <p:ext uri="{BB962C8B-B14F-4D97-AF65-F5344CB8AC3E}">
        <p14:creationId xmlns:p14="http://schemas.microsoft.com/office/powerpoint/2010/main" val="1001726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Core logic</a:t>
            </a:r>
          </a:p>
          <a:p>
            <a:r>
              <a:t>Module 1 provides a consistent measurement and data-processing platform for reference editors, variants and future joint constructs. The sequence is quality control, read alignment, candidate editing-site detection, background and artifact filtering, editing quantification, and comparative analysis.</a:t>
            </a:r>
          </a:p>
          <a:p>
            <a:endParaRPr/>
          </a:p>
          <a:p>
            <a:r>
              <a:t>Meaning of the v1 graphic</a:t>
            </a:r>
          </a:p>
          <a:p>
            <a:r>
              <a:t>The input band identifies reference and variant RNA-seq, matched controls, biological replicates, the reference genome and transcript annotation. The six process boxes describe analytical operations; the output band contains high-confidence editing sites, site-level editing fractions, transcriptome-wide editing profiles, and training/evaluation datasets. Arrows show the order of processing and do not encode performance or effect magnitude.</a:t>
            </a:r>
          </a:p>
          <a:p>
            <a:endParaRPr/>
          </a:p>
          <a:p>
            <a:r>
              <a:t>Conceptual or proposed content</a:t>
            </a:r>
          </a:p>
          <a:p>
            <a:r>
              <a:t>This is a pipeline diagram, not a display of observed editing measurements or performance results. The figure does not establish any editor as superior.</a:t>
            </a:r>
          </a:p>
          <a:p>
            <a:endParaRPr/>
          </a:p>
          <a:p>
            <a:r>
              <a:t>Detail moved from the page</a:t>
            </a:r>
          </a:p>
          <a:p>
            <a:r>
              <a:t>Compare variants across jointly callable sites and account for coverage and replicate consistency. This supports PUF/APOBEC comparisons, model training and held-out evaluation. Raw site counts alone do not establish specificity, because detection depends on coverage and other measurement conditions. Sites not detected as edited are not automatically confirmed negatives. Biological replicates and matched controls are necessary to support reliable comparisons.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2F0B6D-5007-2770-990E-2C80B0AEE89D}"/>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1180A0BB-6C2E-AECC-F7FB-3A3EA2AED7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EBE1AD10-6ABE-8954-1DD7-AB2F3B60B51B}"/>
              </a:ext>
            </a:extLst>
          </p:cNvPr>
          <p:cNvSpPr>
            <a:spLocks noGrp="1"/>
          </p:cNvSpPr>
          <p:nvPr>
            <p:ph type="dt" sz="half" idx="10"/>
          </p:nvPr>
        </p:nvSpPr>
        <p:spPr/>
        <p:txBody>
          <a:bodyPr/>
          <a:lstStyle/>
          <a:p>
            <a:fld id="{6A55A1A3-F264-2F4D-85A8-55F940D9A309}" type="datetimeFigureOut">
              <a:rPr kumimoji="1" lang="zh-CN" altLang="en-US" smtClean="0"/>
              <a:t>2026/9/27</a:t>
            </a:fld>
            <a:endParaRPr kumimoji="1" lang="zh-CN" altLang="en-US"/>
          </a:p>
        </p:txBody>
      </p:sp>
      <p:sp>
        <p:nvSpPr>
          <p:cNvPr id="5" name="页脚占位符 4">
            <a:extLst>
              <a:ext uri="{FF2B5EF4-FFF2-40B4-BE49-F238E27FC236}">
                <a16:creationId xmlns:a16="http://schemas.microsoft.com/office/drawing/2014/main" id="{FEF07A5C-51AE-5451-B190-CC2DA243CE2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25498F0-BF7B-9495-FFD6-59282E147BAB}"/>
              </a:ext>
            </a:extLst>
          </p:cNvPr>
          <p:cNvSpPr>
            <a:spLocks noGrp="1"/>
          </p:cNvSpPr>
          <p:nvPr>
            <p:ph type="sldNum" sz="quarter" idx="12"/>
          </p:nvPr>
        </p:nvSpPr>
        <p:spPr/>
        <p:txBody>
          <a:bodyPr/>
          <a:lstStyle/>
          <a:p>
            <a:fld id="{4A3AFD5F-845C-6A4F-B399-2DD6CDEBC700}" type="slidenum">
              <a:rPr kumimoji="1" lang="zh-CN" altLang="en-US" smtClean="0"/>
              <a:t>‹#›</a:t>
            </a:fld>
            <a:endParaRPr kumimoji="1" lang="zh-CN" altLang="en-US"/>
          </a:p>
        </p:txBody>
      </p:sp>
    </p:spTree>
    <p:extLst>
      <p:ext uri="{BB962C8B-B14F-4D97-AF65-F5344CB8AC3E}">
        <p14:creationId xmlns:p14="http://schemas.microsoft.com/office/powerpoint/2010/main" val="2802522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DF2A0A-AA0F-AB84-D58C-A82E294D39A5}"/>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03A832A-8D11-72D9-3B24-B67539B5C2C4}"/>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DEDB915-08B5-3669-E2D8-98FD6E895ED0}"/>
              </a:ext>
            </a:extLst>
          </p:cNvPr>
          <p:cNvSpPr>
            <a:spLocks noGrp="1"/>
          </p:cNvSpPr>
          <p:nvPr>
            <p:ph type="dt" sz="half" idx="10"/>
          </p:nvPr>
        </p:nvSpPr>
        <p:spPr/>
        <p:txBody>
          <a:bodyPr/>
          <a:lstStyle/>
          <a:p>
            <a:fld id="{6A55A1A3-F264-2F4D-85A8-55F940D9A309}" type="datetimeFigureOut">
              <a:rPr kumimoji="1" lang="zh-CN" altLang="en-US" smtClean="0"/>
              <a:t>2026/9/27</a:t>
            </a:fld>
            <a:endParaRPr kumimoji="1" lang="zh-CN" altLang="en-US"/>
          </a:p>
        </p:txBody>
      </p:sp>
      <p:sp>
        <p:nvSpPr>
          <p:cNvPr id="5" name="页脚占位符 4">
            <a:extLst>
              <a:ext uri="{FF2B5EF4-FFF2-40B4-BE49-F238E27FC236}">
                <a16:creationId xmlns:a16="http://schemas.microsoft.com/office/drawing/2014/main" id="{E80BEDF9-4A78-E73C-6926-0D9B2D52117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1D133D8-A2A0-6042-9160-DAD5589BC3BE}"/>
              </a:ext>
            </a:extLst>
          </p:cNvPr>
          <p:cNvSpPr>
            <a:spLocks noGrp="1"/>
          </p:cNvSpPr>
          <p:nvPr>
            <p:ph type="sldNum" sz="quarter" idx="12"/>
          </p:nvPr>
        </p:nvSpPr>
        <p:spPr/>
        <p:txBody>
          <a:bodyPr/>
          <a:lstStyle/>
          <a:p>
            <a:fld id="{4A3AFD5F-845C-6A4F-B399-2DD6CDEBC700}" type="slidenum">
              <a:rPr kumimoji="1" lang="zh-CN" altLang="en-US" smtClean="0"/>
              <a:t>‹#›</a:t>
            </a:fld>
            <a:endParaRPr kumimoji="1" lang="zh-CN" altLang="en-US"/>
          </a:p>
        </p:txBody>
      </p:sp>
    </p:spTree>
    <p:extLst>
      <p:ext uri="{BB962C8B-B14F-4D97-AF65-F5344CB8AC3E}">
        <p14:creationId xmlns:p14="http://schemas.microsoft.com/office/powerpoint/2010/main" val="61288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DAE45F-14B2-0091-5229-AA7F032FC78A}"/>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9A0E8B84-21CD-5E51-F8E4-F9D6C4448F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701A656-B87F-F2FD-88D5-74EE6B258C45}"/>
              </a:ext>
            </a:extLst>
          </p:cNvPr>
          <p:cNvSpPr>
            <a:spLocks noGrp="1"/>
          </p:cNvSpPr>
          <p:nvPr>
            <p:ph type="dt" sz="half" idx="10"/>
          </p:nvPr>
        </p:nvSpPr>
        <p:spPr/>
        <p:txBody>
          <a:bodyPr/>
          <a:lstStyle/>
          <a:p>
            <a:fld id="{6A55A1A3-F264-2F4D-85A8-55F940D9A309}" type="datetimeFigureOut">
              <a:rPr kumimoji="1" lang="zh-CN" altLang="en-US" smtClean="0"/>
              <a:t>2026/9/27</a:t>
            </a:fld>
            <a:endParaRPr kumimoji="1" lang="zh-CN" altLang="en-US"/>
          </a:p>
        </p:txBody>
      </p:sp>
      <p:sp>
        <p:nvSpPr>
          <p:cNvPr id="5" name="页脚占位符 4">
            <a:extLst>
              <a:ext uri="{FF2B5EF4-FFF2-40B4-BE49-F238E27FC236}">
                <a16:creationId xmlns:a16="http://schemas.microsoft.com/office/drawing/2014/main" id="{4358F5E6-5FD1-C5DF-22AB-65FC1C65E0B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BF4B9D7-28C5-5F19-B8AB-6465E54AF6C4}"/>
              </a:ext>
            </a:extLst>
          </p:cNvPr>
          <p:cNvSpPr>
            <a:spLocks noGrp="1"/>
          </p:cNvSpPr>
          <p:nvPr>
            <p:ph type="sldNum" sz="quarter" idx="12"/>
          </p:nvPr>
        </p:nvSpPr>
        <p:spPr/>
        <p:txBody>
          <a:bodyPr/>
          <a:lstStyle/>
          <a:p>
            <a:fld id="{4A3AFD5F-845C-6A4F-B399-2DD6CDEBC700}" type="slidenum">
              <a:rPr kumimoji="1" lang="zh-CN" altLang="en-US" smtClean="0"/>
              <a:t>‹#›</a:t>
            </a:fld>
            <a:endParaRPr kumimoji="1" lang="zh-CN" altLang="en-US"/>
          </a:p>
        </p:txBody>
      </p:sp>
    </p:spTree>
    <p:extLst>
      <p:ext uri="{BB962C8B-B14F-4D97-AF65-F5344CB8AC3E}">
        <p14:creationId xmlns:p14="http://schemas.microsoft.com/office/powerpoint/2010/main" val="4251218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B6EC56-A0D7-7C96-F99C-FD30E06C7152}"/>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7FDFD01A-EF20-1733-D31E-B7CF801EF874}"/>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EB1CDAAC-9789-EB3C-7F39-908AE7E0B68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B778EEE-0923-56E3-3234-6B7A6EECEF30}"/>
              </a:ext>
            </a:extLst>
          </p:cNvPr>
          <p:cNvSpPr>
            <a:spLocks noGrp="1"/>
          </p:cNvSpPr>
          <p:nvPr>
            <p:ph type="dt" sz="half" idx="10"/>
          </p:nvPr>
        </p:nvSpPr>
        <p:spPr/>
        <p:txBody>
          <a:bodyPr/>
          <a:lstStyle/>
          <a:p>
            <a:fld id="{6A55A1A3-F264-2F4D-85A8-55F940D9A309}" type="datetimeFigureOut">
              <a:rPr kumimoji="1" lang="zh-CN" altLang="en-US" smtClean="0"/>
              <a:t>2026/9/27</a:t>
            </a:fld>
            <a:endParaRPr kumimoji="1" lang="zh-CN" altLang="en-US"/>
          </a:p>
        </p:txBody>
      </p:sp>
      <p:sp>
        <p:nvSpPr>
          <p:cNvPr id="6" name="页脚占位符 5">
            <a:extLst>
              <a:ext uri="{FF2B5EF4-FFF2-40B4-BE49-F238E27FC236}">
                <a16:creationId xmlns:a16="http://schemas.microsoft.com/office/drawing/2014/main" id="{1268C61E-F079-A53E-2822-BB5F199A01A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931B035-2D3E-5369-0F7F-10B3DBB3FF00}"/>
              </a:ext>
            </a:extLst>
          </p:cNvPr>
          <p:cNvSpPr>
            <a:spLocks noGrp="1"/>
          </p:cNvSpPr>
          <p:nvPr>
            <p:ph type="sldNum" sz="quarter" idx="12"/>
          </p:nvPr>
        </p:nvSpPr>
        <p:spPr/>
        <p:txBody>
          <a:bodyPr/>
          <a:lstStyle/>
          <a:p>
            <a:fld id="{4A3AFD5F-845C-6A4F-B399-2DD6CDEBC700}" type="slidenum">
              <a:rPr kumimoji="1" lang="zh-CN" altLang="en-US" smtClean="0"/>
              <a:t>‹#›</a:t>
            </a:fld>
            <a:endParaRPr kumimoji="1" lang="zh-CN" altLang="en-US"/>
          </a:p>
        </p:txBody>
      </p:sp>
    </p:spTree>
    <p:extLst>
      <p:ext uri="{BB962C8B-B14F-4D97-AF65-F5344CB8AC3E}">
        <p14:creationId xmlns:p14="http://schemas.microsoft.com/office/powerpoint/2010/main" val="2471259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37CC4C-7267-C83E-9602-9B60F66327B2}"/>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6879219D-D4A0-9043-1076-A69146545C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986E14DA-B37C-A7F7-8510-41D8CD1B98F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B8CD2837-E83B-348E-BAF9-A317A810CE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E7514B25-B2CE-2D08-D691-C597504B815D}"/>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3F0EE6F-CBF9-58B8-B350-CF5947A927D8}"/>
              </a:ext>
            </a:extLst>
          </p:cNvPr>
          <p:cNvSpPr>
            <a:spLocks noGrp="1"/>
          </p:cNvSpPr>
          <p:nvPr>
            <p:ph type="dt" sz="half" idx="10"/>
          </p:nvPr>
        </p:nvSpPr>
        <p:spPr/>
        <p:txBody>
          <a:bodyPr/>
          <a:lstStyle/>
          <a:p>
            <a:fld id="{6A55A1A3-F264-2F4D-85A8-55F940D9A309}" type="datetimeFigureOut">
              <a:rPr kumimoji="1" lang="zh-CN" altLang="en-US" smtClean="0"/>
              <a:t>2026/9/27</a:t>
            </a:fld>
            <a:endParaRPr kumimoji="1" lang="zh-CN" altLang="en-US"/>
          </a:p>
        </p:txBody>
      </p:sp>
      <p:sp>
        <p:nvSpPr>
          <p:cNvPr id="8" name="页脚占位符 7">
            <a:extLst>
              <a:ext uri="{FF2B5EF4-FFF2-40B4-BE49-F238E27FC236}">
                <a16:creationId xmlns:a16="http://schemas.microsoft.com/office/drawing/2014/main" id="{014387EF-7CD3-E6FB-AA22-BA9DC1AD0055}"/>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0D3E772-9860-37CB-0A86-67B055DAEC52}"/>
              </a:ext>
            </a:extLst>
          </p:cNvPr>
          <p:cNvSpPr>
            <a:spLocks noGrp="1"/>
          </p:cNvSpPr>
          <p:nvPr>
            <p:ph type="sldNum" sz="quarter" idx="12"/>
          </p:nvPr>
        </p:nvSpPr>
        <p:spPr/>
        <p:txBody>
          <a:bodyPr/>
          <a:lstStyle/>
          <a:p>
            <a:fld id="{4A3AFD5F-845C-6A4F-B399-2DD6CDEBC700}" type="slidenum">
              <a:rPr kumimoji="1" lang="zh-CN" altLang="en-US" smtClean="0"/>
              <a:t>‹#›</a:t>
            </a:fld>
            <a:endParaRPr kumimoji="1" lang="zh-CN" altLang="en-US"/>
          </a:p>
        </p:txBody>
      </p:sp>
    </p:spTree>
    <p:extLst>
      <p:ext uri="{BB962C8B-B14F-4D97-AF65-F5344CB8AC3E}">
        <p14:creationId xmlns:p14="http://schemas.microsoft.com/office/powerpoint/2010/main" val="3403059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79312D-6DCB-8864-7C5B-0E62CBFC5CEB}"/>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BFDE9E4C-001C-F269-C8CC-AB78A5B19DE4}"/>
              </a:ext>
            </a:extLst>
          </p:cNvPr>
          <p:cNvSpPr>
            <a:spLocks noGrp="1"/>
          </p:cNvSpPr>
          <p:nvPr>
            <p:ph type="dt" sz="half" idx="10"/>
          </p:nvPr>
        </p:nvSpPr>
        <p:spPr/>
        <p:txBody>
          <a:bodyPr/>
          <a:lstStyle/>
          <a:p>
            <a:fld id="{6A55A1A3-F264-2F4D-85A8-55F940D9A309}" type="datetimeFigureOut">
              <a:rPr kumimoji="1" lang="zh-CN" altLang="en-US" smtClean="0"/>
              <a:t>2026/9/27</a:t>
            </a:fld>
            <a:endParaRPr kumimoji="1" lang="zh-CN" altLang="en-US"/>
          </a:p>
        </p:txBody>
      </p:sp>
      <p:sp>
        <p:nvSpPr>
          <p:cNvPr id="4" name="页脚占位符 3">
            <a:extLst>
              <a:ext uri="{FF2B5EF4-FFF2-40B4-BE49-F238E27FC236}">
                <a16:creationId xmlns:a16="http://schemas.microsoft.com/office/drawing/2014/main" id="{E7BA18E1-7FE0-4C37-1D2E-312914548702}"/>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A0A4B29E-940F-29A7-D8D3-605214EE1B03}"/>
              </a:ext>
            </a:extLst>
          </p:cNvPr>
          <p:cNvSpPr>
            <a:spLocks noGrp="1"/>
          </p:cNvSpPr>
          <p:nvPr>
            <p:ph type="sldNum" sz="quarter" idx="12"/>
          </p:nvPr>
        </p:nvSpPr>
        <p:spPr/>
        <p:txBody>
          <a:bodyPr/>
          <a:lstStyle/>
          <a:p>
            <a:fld id="{4A3AFD5F-845C-6A4F-B399-2DD6CDEBC700}" type="slidenum">
              <a:rPr kumimoji="1" lang="zh-CN" altLang="en-US" smtClean="0"/>
              <a:t>‹#›</a:t>
            </a:fld>
            <a:endParaRPr kumimoji="1" lang="zh-CN" altLang="en-US"/>
          </a:p>
        </p:txBody>
      </p:sp>
    </p:spTree>
    <p:extLst>
      <p:ext uri="{BB962C8B-B14F-4D97-AF65-F5344CB8AC3E}">
        <p14:creationId xmlns:p14="http://schemas.microsoft.com/office/powerpoint/2010/main" val="2256594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F39363-FD5C-3BBC-B156-C8F830F367DF}"/>
              </a:ext>
            </a:extLst>
          </p:cNvPr>
          <p:cNvSpPr>
            <a:spLocks noGrp="1"/>
          </p:cNvSpPr>
          <p:nvPr>
            <p:ph type="dt" sz="half" idx="10"/>
          </p:nvPr>
        </p:nvSpPr>
        <p:spPr/>
        <p:txBody>
          <a:bodyPr/>
          <a:lstStyle/>
          <a:p>
            <a:fld id="{6A55A1A3-F264-2F4D-85A8-55F940D9A309}" type="datetimeFigureOut">
              <a:rPr kumimoji="1" lang="zh-CN" altLang="en-US" smtClean="0"/>
              <a:t>2026/9/27</a:t>
            </a:fld>
            <a:endParaRPr kumimoji="1" lang="zh-CN" altLang="en-US"/>
          </a:p>
        </p:txBody>
      </p:sp>
      <p:sp>
        <p:nvSpPr>
          <p:cNvPr id="3" name="页脚占位符 2">
            <a:extLst>
              <a:ext uri="{FF2B5EF4-FFF2-40B4-BE49-F238E27FC236}">
                <a16:creationId xmlns:a16="http://schemas.microsoft.com/office/drawing/2014/main" id="{239F9A28-B5B7-8060-8327-4CFB9E4A3C2C}"/>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884E1652-421F-B554-FFD9-650B9FDD1417}"/>
              </a:ext>
            </a:extLst>
          </p:cNvPr>
          <p:cNvSpPr>
            <a:spLocks noGrp="1"/>
          </p:cNvSpPr>
          <p:nvPr>
            <p:ph type="sldNum" sz="quarter" idx="12"/>
          </p:nvPr>
        </p:nvSpPr>
        <p:spPr/>
        <p:txBody>
          <a:bodyPr/>
          <a:lstStyle/>
          <a:p>
            <a:fld id="{4A3AFD5F-845C-6A4F-B399-2DD6CDEBC700}" type="slidenum">
              <a:rPr kumimoji="1" lang="zh-CN" altLang="en-US" smtClean="0"/>
              <a:t>‹#›</a:t>
            </a:fld>
            <a:endParaRPr kumimoji="1" lang="zh-CN" altLang="en-US"/>
          </a:p>
        </p:txBody>
      </p:sp>
    </p:spTree>
    <p:extLst>
      <p:ext uri="{BB962C8B-B14F-4D97-AF65-F5344CB8AC3E}">
        <p14:creationId xmlns:p14="http://schemas.microsoft.com/office/powerpoint/2010/main" val="4045686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BABD73-399C-3B54-6AC9-2C29EE0032BE}"/>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477DB345-1683-9C0A-F54F-CF98DA7F3C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50881CE5-7413-C965-BCF8-66A8739AB3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D5F02F29-AB1B-09CD-0CAD-D8149BA9F350}"/>
              </a:ext>
            </a:extLst>
          </p:cNvPr>
          <p:cNvSpPr>
            <a:spLocks noGrp="1"/>
          </p:cNvSpPr>
          <p:nvPr>
            <p:ph type="dt" sz="half" idx="10"/>
          </p:nvPr>
        </p:nvSpPr>
        <p:spPr/>
        <p:txBody>
          <a:bodyPr/>
          <a:lstStyle/>
          <a:p>
            <a:fld id="{6A55A1A3-F264-2F4D-85A8-55F940D9A309}" type="datetimeFigureOut">
              <a:rPr kumimoji="1" lang="zh-CN" altLang="en-US" smtClean="0"/>
              <a:t>2026/9/27</a:t>
            </a:fld>
            <a:endParaRPr kumimoji="1" lang="zh-CN" altLang="en-US"/>
          </a:p>
        </p:txBody>
      </p:sp>
      <p:sp>
        <p:nvSpPr>
          <p:cNvPr id="6" name="页脚占位符 5">
            <a:extLst>
              <a:ext uri="{FF2B5EF4-FFF2-40B4-BE49-F238E27FC236}">
                <a16:creationId xmlns:a16="http://schemas.microsoft.com/office/drawing/2014/main" id="{5E009FEF-088B-DF35-A457-C105CD31B46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B46480C-D430-D90C-CD48-DB9A6716E643}"/>
              </a:ext>
            </a:extLst>
          </p:cNvPr>
          <p:cNvSpPr>
            <a:spLocks noGrp="1"/>
          </p:cNvSpPr>
          <p:nvPr>
            <p:ph type="sldNum" sz="quarter" idx="12"/>
          </p:nvPr>
        </p:nvSpPr>
        <p:spPr/>
        <p:txBody>
          <a:bodyPr/>
          <a:lstStyle/>
          <a:p>
            <a:fld id="{4A3AFD5F-845C-6A4F-B399-2DD6CDEBC700}" type="slidenum">
              <a:rPr kumimoji="1" lang="zh-CN" altLang="en-US" smtClean="0"/>
              <a:t>‹#›</a:t>
            </a:fld>
            <a:endParaRPr kumimoji="1" lang="zh-CN" altLang="en-US"/>
          </a:p>
        </p:txBody>
      </p:sp>
    </p:spTree>
    <p:extLst>
      <p:ext uri="{BB962C8B-B14F-4D97-AF65-F5344CB8AC3E}">
        <p14:creationId xmlns:p14="http://schemas.microsoft.com/office/powerpoint/2010/main" val="1978747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FB32A8-EE50-28AC-EBFF-C5CAFA1E4FAE}"/>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6E6B48B-567D-4BC1-FDA1-D4E84522EE3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CEDADFA-1BE8-997B-88E9-B00F0B6022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1158F1E-B117-CF38-265F-B5A08F003C89}"/>
              </a:ext>
            </a:extLst>
          </p:cNvPr>
          <p:cNvSpPr>
            <a:spLocks noGrp="1"/>
          </p:cNvSpPr>
          <p:nvPr>
            <p:ph type="dt" sz="half" idx="10"/>
          </p:nvPr>
        </p:nvSpPr>
        <p:spPr/>
        <p:txBody>
          <a:bodyPr/>
          <a:lstStyle/>
          <a:p>
            <a:fld id="{6A55A1A3-F264-2F4D-85A8-55F940D9A309}" type="datetimeFigureOut">
              <a:rPr kumimoji="1" lang="zh-CN" altLang="en-US" smtClean="0"/>
              <a:t>2026/9/27</a:t>
            </a:fld>
            <a:endParaRPr kumimoji="1" lang="zh-CN" altLang="en-US"/>
          </a:p>
        </p:txBody>
      </p:sp>
      <p:sp>
        <p:nvSpPr>
          <p:cNvPr id="6" name="页脚占位符 5">
            <a:extLst>
              <a:ext uri="{FF2B5EF4-FFF2-40B4-BE49-F238E27FC236}">
                <a16:creationId xmlns:a16="http://schemas.microsoft.com/office/drawing/2014/main" id="{093C5726-F2C8-05AD-551B-936EDED3F00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53009E3-3816-95F5-8988-8EB86699096E}"/>
              </a:ext>
            </a:extLst>
          </p:cNvPr>
          <p:cNvSpPr>
            <a:spLocks noGrp="1"/>
          </p:cNvSpPr>
          <p:nvPr>
            <p:ph type="sldNum" sz="quarter" idx="12"/>
          </p:nvPr>
        </p:nvSpPr>
        <p:spPr/>
        <p:txBody>
          <a:bodyPr/>
          <a:lstStyle/>
          <a:p>
            <a:fld id="{4A3AFD5F-845C-6A4F-B399-2DD6CDEBC700}" type="slidenum">
              <a:rPr kumimoji="1" lang="zh-CN" altLang="en-US" smtClean="0"/>
              <a:t>‹#›</a:t>
            </a:fld>
            <a:endParaRPr kumimoji="1" lang="zh-CN" altLang="en-US"/>
          </a:p>
        </p:txBody>
      </p:sp>
    </p:spTree>
    <p:extLst>
      <p:ext uri="{BB962C8B-B14F-4D97-AF65-F5344CB8AC3E}">
        <p14:creationId xmlns:p14="http://schemas.microsoft.com/office/powerpoint/2010/main" val="1268430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9CD2D2-53AF-1678-DD4D-EE54B23250DE}"/>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413502E-F33A-E891-E190-C4C61EE96CF2}"/>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312956F-D52D-2FFD-10EE-9F45D52C602B}"/>
              </a:ext>
            </a:extLst>
          </p:cNvPr>
          <p:cNvSpPr>
            <a:spLocks noGrp="1"/>
          </p:cNvSpPr>
          <p:nvPr>
            <p:ph type="dt" sz="half" idx="10"/>
          </p:nvPr>
        </p:nvSpPr>
        <p:spPr/>
        <p:txBody>
          <a:bodyPr/>
          <a:lstStyle/>
          <a:p>
            <a:fld id="{6A55A1A3-F264-2F4D-85A8-55F940D9A309}" type="datetimeFigureOut">
              <a:rPr kumimoji="1" lang="zh-CN" altLang="en-US" smtClean="0"/>
              <a:t>2026/9/27</a:t>
            </a:fld>
            <a:endParaRPr kumimoji="1" lang="zh-CN" altLang="en-US"/>
          </a:p>
        </p:txBody>
      </p:sp>
      <p:sp>
        <p:nvSpPr>
          <p:cNvPr id="5" name="页脚占位符 4">
            <a:extLst>
              <a:ext uri="{FF2B5EF4-FFF2-40B4-BE49-F238E27FC236}">
                <a16:creationId xmlns:a16="http://schemas.microsoft.com/office/drawing/2014/main" id="{A43320B8-D562-DDC9-87BC-04168840F9E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A6DBC64-72BD-4443-6603-66677D8C2E16}"/>
              </a:ext>
            </a:extLst>
          </p:cNvPr>
          <p:cNvSpPr>
            <a:spLocks noGrp="1"/>
          </p:cNvSpPr>
          <p:nvPr>
            <p:ph type="sldNum" sz="quarter" idx="12"/>
          </p:nvPr>
        </p:nvSpPr>
        <p:spPr/>
        <p:txBody>
          <a:bodyPr/>
          <a:lstStyle/>
          <a:p>
            <a:fld id="{4A3AFD5F-845C-6A4F-B399-2DD6CDEBC700}" type="slidenum">
              <a:rPr kumimoji="1" lang="zh-CN" altLang="en-US" smtClean="0"/>
              <a:t>‹#›</a:t>
            </a:fld>
            <a:endParaRPr kumimoji="1" lang="zh-CN" altLang="en-US"/>
          </a:p>
        </p:txBody>
      </p:sp>
    </p:spTree>
    <p:extLst>
      <p:ext uri="{BB962C8B-B14F-4D97-AF65-F5344CB8AC3E}">
        <p14:creationId xmlns:p14="http://schemas.microsoft.com/office/powerpoint/2010/main" val="3748165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D380996-50E5-54CA-2D00-67F35A37B870}"/>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40D60DA-68C9-BFA8-D330-A958D8E77627}"/>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A24DC4F-AB76-ACB8-51B6-6FCC757CF4E3}"/>
              </a:ext>
            </a:extLst>
          </p:cNvPr>
          <p:cNvSpPr>
            <a:spLocks noGrp="1"/>
          </p:cNvSpPr>
          <p:nvPr>
            <p:ph type="dt" sz="half" idx="10"/>
          </p:nvPr>
        </p:nvSpPr>
        <p:spPr/>
        <p:txBody>
          <a:bodyPr/>
          <a:lstStyle/>
          <a:p>
            <a:fld id="{6A55A1A3-F264-2F4D-85A8-55F940D9A309}" type="datetimeFigureOut">
              <a:rPr kumimoji="1" lang="zh-CN" altLang="en-US" smtClean="0"/>
              <a:t>2026/9/27</a:t>
            </a:fld>
            <a:endParaRPr kumimoji="1" lang="zh-CN" altLang="en-US"/>
          </a:p>
        </p:txBody>
      </p:sp>
      <p:sp>
        <p:nvSpPr>
          <p:cNvPr id="5" name="页脚占位符 4">
            <a:extLst>
              <a:ext uri="{FF2B5EF4-FFF2-40B4-BE49-F238E27FC236}">
                <a16:creationId xmlns:a16="http://schemas.microsoft.com/office/drawing/2014/main" id="{BDD85B33-0DEA-A468-2C42-95AD4786AA3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493EB91-84EC-A311-2900-CD33B54B873A}"/>
              </a:ext>
            </a:extLst>
          </p:cNvPr>
          <p:cNvSpPr>
            <a:spLocks noGrp="1"/>
          </p:cNvSpPr>
          <p:nvPr>
            <p:ph type="sldNum" sz="quarter" idx="12"/>
          </p:nvPr>
        </p:nvSpPr>
        <p:spPr/>
        <p:txBody>
          <a:bodyPr/>
          <a:lstStyle/>
          <a:p>
            <a:fld id="{4A3AFD5F-845C-6A4F-B399-2DD6CDEBC700}" type="slidenum">
              <a:rPr kumimoji="1" lang="zh-CN" altLang="en-US" smtClean="0"/>
              <a:t>‹#›</a:t>
            </a:fld>
            <a:endParaRPr kumimoji="1" lang="zh-CN" altLang="en-US"/>
          </a:p>
        </p:txBody>
      </p:sp>
    </p:spTree>
    <p:extLst>
      <p:ext uri="{BB962C8B-B14F-4D97-AF65-F5344CB8AC3E}">
        <p14:creationId xmlns:p14="http://schemas.microsoft.com/office/powerpoint/2010/main" val="4239282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F3F49E7-2F03-D97C-4596-908780BE3B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0BDE6E2-C029-78BE-58EA-29C940CE84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3DA5969-C77D-FB04-D063-5CC011ED73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55A1A3-F264-2F4D-85A8-55F940D9A309}" type="datetimeFigureOut">
              <a:rPr kumimoji="1" lang="zh-CN" altLang="en-US" smtClean="0"/>
              <a:t>2026/9/27</a:t>
            </a:fld>
            <a:endParaRPr kumimoji="1" lang="zh-CN" altLang="en-US"/>
          </a:p>
        </p:txBody>
      </p:sp>
      <p:sp>
        <p:nvSpPr>
          <p:cNvPr id="5" name="页脚占位符 4">
            <a:extLst>
              <a:ext uri="{FF2B5EF4-FFF2-40B4-BE49-F238E27FC236}">
                <a16:creationId xmlns:a16="http://schemas.microsoft.com/office/drawing/2014/main" id="{0231A683-03AD-2EF7-0450-F6F55B9C14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78D88FC3-1DB6-A9C3-B887-D232769B3F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3AFD5F-845C-6A4F-B399-2DD6CDEBC700}" type="slidenum">
              <a:rPr kumimoji="1" lang="zh-CN" altLang="en-US" smtClean="0"/>
              <a:t>‹#›</a:t>
            </a:fld>
            <a:endParaRPr kumimoji="1" lang="zh-CN" altLang="en-US"/>
          </a:p>
        </p:txBody>
      </p:sp>
    </p:spTree>
    <p:extLst>
      <p:ext uri="{BB962C8B-B14F-4D97-AF65-F5344CB8AC3E}">
        <p14:creationId xmlns:p14="http://schemas.microsoft.com/office/powerpoint/2010/main" val="1236229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ditable_rect_1"/>
          <p:cNvSpPr>
            <a:spLocks noGrp="1"/>
          </p:cNvSpPr>
          <p:nvPr/>
        </p:nvSpPr>
        <p:spPr>
          <a:xfrm>
            <a:off x="609600" y="-807272"/>
            <a:ext cx="10972800" cy="6858000"/>
          </a:xfrm>
          <a:prstGeom prst="rect">
            <a:avLst/>
          </a:prstGeom>
          <a:solidFill>
            <a:srgbClr val="FFFEFC"/>
          </a:solidFill>
          <a:ln w="19050">
            <a:solidFill>
              <a:srgbClr val="FFFEFC"/>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972"/>
          </a:p>
        </p:txBody>
      </p:sp>
      <p:sp>
        <p:nvSpPr>
          <p:cNvPr id="5" name="Editable_round_4"/>
          <p:cNvSpPr>
            <a:spLocks noGrp="1"/>
          </p:cNvSpPr>
          <p:nvPr/>
        </p:nvSpPr>
        <p:spPr>
          <a:xfrm>
            <a:off x="1048512" y="274320"/>
            <a:ext cx="10094976" cy="768096"/>
          </a:xfrm>
          <a:prstGeom prst="roundRect">
            <a:avLst>
              <a:gd name="adj" fmla="val 8000"/>
            </a:avLst>
          </a:prstGeom>
          <a:solidFill>
            <a:srgbClr val="EFEAFA"/>
          </a:solidFill>
          <a:ln w="19050">
            <a:solidFill>
              <a:srgbClr val="DCD8E5"/>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972"/>
          </a:p>
        </p:txBody>
      </p:sp>
      <p:sp>
        <p:nvSpPr>
          <p:cNvPr id="6" name="Editable_text_5"/>
          <p:cNvSpPr>
            <a:spLocks noGrp="1"/>
          </p:cNvSpPr>
          <p:nvPr/>
        </p:nvSpPr>
        <p:spPr>
          <a:xfrm>
            <a:off x="1213104" y="377190"/>
            <a:ext cx="1783080" cy="562356"/>
          </a:xfrm>
          <a:prstGeom prst="rect">
            <a:avLst/>
          </a:prstGeom>
          <a:noFill/>
        </p:spPr>
        <p:txBody>
          <a:bodyPr wrap="none" lIns="0" tIns="0" rIns="0" bIns="0" anchor="ctr"/>
          <a:lstStyle/>
          <a:p>
            <a:pPr>
              <a:lnSpc>
                <a:spcPts val="1755"/>
              </a:lnSpc>
            </a:pPr>
            <a:r>
              <a:rPr sz="1512" b="1">
                <a:solidFill>
                  <a:srgbClr val="342568"/>
                </a:solidFill>
                <a:latin typeface="Futura" panose="020B0602020204020303"/>
                <a:ea typeface="Futura" panose="020B0602020204020303"/>
                <a:cs typeface="Futura" panose="020B0602020204020303"/>
              </a:rPr>
              <a:t>Inputs</a:t>
            </a:r>
            <a:endParaRPr sz="1512"/>
          </a:p>
        </p:txBody>
      </p:sp>
      <p:sp>
        <p:nvSpPr>
          <p:cNvPr id="7" name="Editable_text_6"/>
          <p:cNvSpPr>
            <a:spLocks noGrp="1"/>
          </p:cNvSpPr>
          <p:nvPr/>
        </p:nvSpPr>
        <p:spPr>
          <a:xfrm>
            <a:off x="2410168" y="384048"/>
            <a:ext cx="8541296" cy="562356"/>
          </a:xfrm>
          <a:prstGeom prst="rect">
            <a:avLst/>
          </a:prstGeom>
          <a:noFill/>
        </p:spPr>
        <p:txBody>
          <a:bodyPr wrap="none" lIns="0" tIns="0" rIns="0" bIns="0" anchor="ctr"/>
          <a:lstStyle/>
          <a:p>
            <a:pPr>
              <a:lnSpc>
                <a:spcPts val="1690"/>
              </a:lnSpc>
            </a:pPr>
            <a:r>
              <a:rPr lang="en-US" altLang="zh-CN" sz="1458" dirty="0">
                <a:solidFill>
                  <a:srgbClr val="292638"/>
                </a:solidFill>
                <a:latin typeface="Futura" panose="020B0602020204020303"/>
                <a:ea typeface="Futura" panose="020B0602020204020303"/>
                <a:cs typeface="Futura" panose="020B0602020204020303"/>
              </a:rPr>
              <a:t>36</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libraries</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9</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groups</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4</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replicates</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per</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group</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GRCh38</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GENCODE</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v50</a:t>
            </a:r>
            <a:endParaRPr sz="1458" dirty="0"/>
          </a:p>
        </p:txBody>
      </p:sp>
      <p:sp>
        <p:nvSpPr>
          <p:cNvPr id="9" name="Editable_round_8"/>
          <p:cNvSpPr>
            <a:spLocks noGrp="1"/>
          </p:cNvSpPr>
          <p:nvPr/>
        </p:nvSpPr>
        <p:spPr>
          <a:xfrm>
            <a:off x="1048512" y="2942082"/>
            <a:ext cx="3172968" cy="713232"/>
          </a:xfrm>
          <a:prstGeom prst="roundRect">
            <a:avLst>
              <a:gd name="adj" fmla="val 8000"/>
            </a:avLst>
          </a:prstGeom>
          <a:solidFill>
            <a:srgbClr val="EFEAFA"/>
          </a:solidFill>
          <a:ln w="19050">
            <a:solidFill>
              <a:srgbClr val="8C76B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972"/>
          </a:p>
        </p:txBody>
      </p:sp>
      <p:sp>
        <p:nvSpPr>
          <p:cNvPr id="10" name="Editable_text_9"/>
          <p:cNvSpPr>
            <a:spLocks noGrp="1"/>
          </p:cNvSpPr>
          <p:nvPr/>
        </p:nvSpPr>
        <p:spPr>
          <a:xfrm>
            <a:off x="1144524" y="2996946"/>
            <a:ext cx="2980944" cy="603504"/>
          </a:xfrm>
          <a:prstGeom prst="rect">
            <a:avLst/>
          </a:prstGeom>
          <a:noFill/>
        </p:spPr>
        <p:txBody>
          <a:bodyPr wrap="none" lIns="0" tIns="0" rIns="0" bIns="0" anchor="ctr"/>
          <a:lstStyle/>
          <a:p>
            <a:pPr algn="ctr">
              <a:lnSpc>
                <a:spcPts val="1941"/>
              </a:lnSpc>
            </a:pPr>
            <a:r>
              <a:rPr lang="en-US" altLang="zh-CN" sz="1674" dirty="0">
                <a:solidFill>
                  <a:srgbClr val="292638"/>
                </a:solidFill>
                <a:latin typeface="Futura" panose="020B0602020204020303"/>
                <a:ea typeface="Futura" panose="020B0602020204020303"/>
                <a:cs typeface="Futura" panose="020B0602020204020303"/>
              </a:rPr>
              <a:t>Adapter</a:t>
            </a:r>
            <a:r>
              <a:rPr lang="zh-CN" altLang="en-US" sz="1674" dirty="0">
                <a:solidFill>
                  <a:srgbClr val="292638"/>
                </a:solidFill>
                <a:latin typeface="Futura" panose="020B0602020204020303"/>
                <a:ea typeface="Futura" panose="020B0602020204020303"/>
                <a:cs typeface="Futura" panose="020B0602020204020303"/>
              </a:rPr>
              <a:t> </a:t>
            </a:r>
            <a:r>
              <a:rPr lang="en-US" altLang="zh-CN" sz="1674" dirty="0">
                <a:solidFill>
                  <a:srgbClr val="292638"/>
                </a:solidFill>
                <a:latin typeface="Futura" panose="020B0602020204020303"/>
                <a:ea typeface="Futura" panose="020B0602020204020303"/>
                <a:cs typeface="Futura" panose="020B0602020204020303"/>
              </a:rPr>
              <a:t>trimming</a:t>
            </a:r>
          </a:p>
          <a:p>
            <a:pPr algn="ctr">
              <a:lnSpc>
                <a:spcPts val="1941"/>
              </a:lnSpc>
            </a:pPr>
            <a:r>
              <a:rPr lang="en-US" altLang="zh-CN" sz="1674" dirty="0" err="1">
                <a:solidFill>
                  <a:srgbClr val="292638"/>
                </a:solidFill>
                <a:latin typeface="Futura" panose="020B0602020204020303"/>
                <a:cs typeface="Futura" panose="020B0602020204020303"/>
              </a:rPr>
              <a:t>fastp</a:t>
            </a:r>
            <a:endParaRPr sz="1674" dirty="0"/>
          </a:p>
        </p:txBody>
      </p:sp>
      <p:sp>
        <p:nvSpPr>
          <p:cNvPr id="11" name="Editable_round_10"/>
          <p:cNvSpPr>
            <a:spLocks noGrp="1"/>
          </p:cNvSpPr>
          <p:nvPr/>
        </p:nvSpPr>
        <p:spPr>
          <a:xfrm>
            <a:off x="4509517" y="2942082"/>
            <a:ext cx="3172968" cy="713232"/>
          </a:xfrm>
          <a:prstGeom prst="roundRect">
            <a:avLst>
              <a:gd name="adj" fmla="val 8000"/>
            </a:avLst>
          </a:prstGeom>
          <a:solidFill>
            <a:srgbClr val="EFEAFA"/>
          </a:solidFill>
          <a:ln w="19050">
            <a:solidFill>
              <a:srgbClr val="8C76B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972"/>
          </a:p>
        </p:txBody>
      </p:sp>
      <p:sp>
        <p:nvSpPr>
          <p:cNvPr id="12" name="Editable_text_11"/>
          <p:cNvSpPr>
            <a:spLocks noGrp="1"/>
          </p:cNvSpPr>
          <p:nvPr/>
        </p:nvSpPr>
        <p:spPr>
          <a:xfrm>
            <a:off x="4605529" y="2996946"/>
            <a:ext cx="2980944" cy="603504"/>
          </a:xfrm>
          <a:prstGeom prst="rect">
            <a:avLst/>
          </a:prstGeom>
          <a:noFill/>
        </p:spPr>
        <p:txBody>
          <a:bodyPr wrap="none" lIns="0" tIns="0" rIns="0" bIns="0" anchor="ctr"/>
          <a:lstStyle/>
          <a:p>
            <a:pPr algn="ctr">
              <a:lnSpc>
                <a:spcPts val="1941"/>
              </a:lnSpc>
            </a:pPr>
            <a:r>
              <a:rPr lang="en-US" altLang="zh-CN" sz="1674">
                <a:solidFill>
                  <a:srgbClr val="292638"/>
                </a:solidFill>
                <a:latin typeface="Futura" panose="020B0602020204020303"/>
                <a:ea typeface="Futura" panose="020B0602020204020303"/>
                <a:cs typeface="Futura" panose="020B0602020204020303"/>
              </a:rPr>
              <a:t>Read</a:t>
            </a:r>
            <a:r>
              <a:rPr lang="zh-CN" altLang="en-US" sz="1674" dirty="0">
                <a:solidFill>
                  <a:srgbClr val="292638"/>
                </a:solidFill>
                <a:latin typeface="Futura" panose="020B0602020204020303"/>
                <a:ea typeface="Futura" panose="020B0602020204020303"/>
                <a:cs typeface="Futura" panose="020B0602020204020303"/>
              </a:rPr>
              <a:t> </a:t>
            </a:r>
            <a:r>
              <a:rPr lang="en-US" altLang="zh-CN" sz="1674" dirty="0">
                <a:solidFill>
                  <a:srgbClr val="292638"/>
                </a:solidFill>
                <a:latin typeface="Futura" panose="020B0602020204020303"/>
                <a:ea typeface="Futura" panose="020B0602020204020303"/>
                <a:cs typeface="Futura" panose="020B0602020204020303"/>
              </a:rPr>
              <a:t>alignment</a:t>
            </a:r>
          </a:p>
          <a:p>
            <a:pPr algn="ctr">
              <a:lnSpc>
                <a:spcPts val="1941"/>
              </a:lnSpc>
            </a:pPr>
            <a:r>
              <a:rPr lang="en-US" altLang="zh-CN" sz="1674" dirty="0">
                <a:solidFill>
                  <a:srgbClr val="292638"/>
                </a:solidFill>
                <a:latin typeface="Futura" panose="020B0602020204020303"/>
                <a:cs typeface="Futura" panose="020B0602020204020303"/>
              </a:rPr>
              <a:t>STAR</a:t>
            </a:r>
            <a:r>
              <a:rPr lang="zh-CN" altLang="en-US" sz="1674" dirty="0">
                <a:solidFill>
                  <a:srgbClr val="292638"/>
                </a:solidFill>
                <a:latin typeface="Futura" panose="020B0602020204020303"/>
                <a:cs typeface="Futura" panose="020B0602020204020303"/>
              </a:rPr>
              <a:t> </a:t>
            </a:r>
            <a:r>
              <a:rPr lang="en-US" altLang="zh-CN" sz="1674" dirty="0">
                <a:solidFill>
                  <a:srgbClr val="292638"/>
                </a:solidFill>
                <a:latin typeface="Futura" panose="020B0602020204020303"/>
                <a:cs typeface="Futura" panose="020B0602020204020303"/>
              </a:rPr>
              <a:t>/</a:t>
            </a:r>
            <a:r>
              <a:rPr lang="zh-CN" altLang="en-US" sz="1674" dirty="0">
                <a:solidFill>
                  <a:srgbClr val="292638"/>
                </a:solidFill>
                <a:latin typeface="Futura" panose="020B0602020204020303"/>
                <a:cs typeface="Futura" panose="020B0602020204020303"/>
              </a:rPr>
              <a:t> </a:t>
            </a:r>
            <a:r>
              <a:rPr lang="en-US" altLang="zh-CN" sz="1674" dirty="0">
                <a:solidFill>
                  <a:srgbClr val="292638"/>
                </a:solidFill>
                <a:latin typeface="Futura" panose="020B0602020204020303"/>
                <a:cs typeface="Futura" panose="020B0602020204020303"/>
              </a:rPr>
              <a:t>GATK</a:t>
            </a:r>
            <a:endParaRPr sz="1674" dirty="0"/>
          </a:p>
        </p:txBody>
      </p:sp>
      <p:cxnSp>
        <p:nvCxnSpPr>
          <p:cNvPr id="43" name="Editable_line_12"/>
          <p:cNvCxnSpPr/>
          <p:nvPr/>
        </p:nvCxnSpPr>
        <p:spPr>
          <a:xfrm>
            <a:off x="4269486" y="3298698"/>
            <a:ext cx="192024" cy="0"/>
          </a:xfrm>
          <a:prstGeom prst="straightConnector1">
            <a:avLst/>
          </a:prstGeom>
          <a:ln w="33020">
            <a:solidFill>
              <a:srgbClr val="342568"/>
            </a:solidFill>
            <a:tailEnd type="triangle"/>
          </a:ln>
        </p:spPr>
        <p:style>
          <a:lnRef idx="2">
            <a:schemeClr val="accent1"/>
          </a:lnRef>
          <a:fillRef idx="0">
            <a:schemeClr val="accent1"/>
          </a:fillRef>
          <a:effectRef idx="1">
            <a:schemeClr val="accent1"/>
          </a:effectRef>
          <a:fontRef idx="minor">
            <a:schemeClr val="tx1"/>
          </a:fontRef>
        </p:style>
      </p:cxnSp>
      <p:sp>
        <p:nvSpPr>
          <p:cNvPr id="14" name="Editable_round_13"/>
          <p:cNvSpPr>
            <a:spLocks noGrp="1"/>
          </p:cNvSpPr>
          <p:nvPr/>
        </p:nvSpPr>
        <p:spPr>
          <a:xfrm>
            <a:off x="7970520" y="2942082"/>
            <a:ext cx="3172968" cy="713232"/>
          </a:xfrm>
          <a:prstGeom prst="roundRect">
            <a:avLst>
              <a:gd name="adj" fmla="val 8000"/>
            </a:avLst>
          </a:prstGeom>
          <a:solidFill>
            <a:srgbClr val="EFEAFA"/>
          </a:solidFill>
          <a:ln w="19050">
            <a:solidFill>
              <a:srgbClr val="8C76B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972"/>
          </a:p>
        </p:txBody>
      </p:sp>
      <p:sp>
        <p:nvSpPr>
          <p:cNvPr id="15" name="Editable_text_14"/>
          <p:cNvSpPr>
            <a:spLocks noGrp="1"/>
          </p:cNvSpPr>
          <p:nvPr/>
        </p:nvSpPr>
        <p:spPr>
          <a:xfrm>
            <a:off x="8066532" y="2996946"/>
            <a:ext cx="2980944" cy="603504"/>
          </a:xfrm>
          <a:prstGeom prst="rect">
            <a:avLst/>
          </a:prstGeom>
          <a:noFill/>
        </p:spPr>
        <p:txBody>
          <a:bodyPr wrap="none" lIns="0" tIns="0" rIns="0" bIns="0" anchor="ctr"/>
          <a:lstStyle/>
          <a:p>
            <a:pPr algn="ctr">
              <a:lnSpc>
                <a:spcPts val="1941"/>
              </a:lnSpc>
            </a:pPr>
            <a:r>
              <a:rPr lang="en-US" altLang="zh-CN" sz="1674" dirty="0">
                <a:solidFill>
                  <a:srgbClr val="292638"/>
                </a:solidFill>
                <a:latin typeface="Futura" panose="020B0602020204020303"/>
                <a:ea typeface="Futura" panose="020B0602020204020303"/>
                <a:cs typeface="Futura" panose="020B0602020204020303"/>
              </a:rPr>
              <a:t>Candidate</a:t>
            </a:r>
            <a:r>
              <a:rPr lang="zh-CN" altLang="en-US" sz="1674" dirty="0">
                <a:solidFill>
                  <a:srgbClr val="292638"/>
                </a:solidFill>
                <a:latin typeface="Futura" panose="020B0602020204020303"/>
                <a:ea typeface="Futura" panose="020B0602020204020303"/>
                <a:cs typeface="Futura" panose="020B0602020204020303"/>
              </a:rPr>
              <a:t> </a:t>
            </a:r>
            <a:r>
              <a:rPr lang="en-US" altLang="zh-CN" sz="1674" dirty="0">
                <a:solidFill>
                  <a:srgbClr val="292638"/>
                </a:solidFill>
                <a:latin typeface="Futura" panose="020B0602020204020303"/>
                <a:ea typeface="Futura" panose="020B0602020204020303"/>
                <a:cs typeface="Futura" panose="020B0602020204020303"/>
              </a:rPr>
              <a:t>detection</a:t>
            </a:r>
          </a:p>
          <a:p>
            <a:pPr algn="ctr">
              <a:lnSpc>
                <a:spcPts val="1941"/>
              </a:lnSpc>
            </a:pPr>
            <a:r>
              <a:rPr lang="en-US" altLang="zh-CN" sz="1674" dirty="0">
                <a:solidFill>
                  <a:srgbClr val="292638"/>
                </a:solidFill>
                <a:latin typeface="Futura" panose="020B0602020204020303"/>
                <a:cs typeface="Futura" panose="020B0602020204020303"/>
              </a:rPr>
              <a:t>REDItools2</a:t>
            </a:r>
            <a:r>
              <a:rPr lang="zh-CN" altLang="en-US" sz="1674" dirty="0">
                <a:solidFill>
                  <a:srgbClr val="292638"/>
                </a:solidFill>
                <a:latin typeface="Futura" panose="020B0602020204020303"/>
                <a:cs typeface="Futura" panose="020B0602020204020303"/>
              </a:rPr>
              <a:t> </a:t>
            </a:r>
            <a:r>
              <a:rPr lang="en-US" altLang="zh-CN" sz="1674" dirty="0">
                <a:solidFill>
                  <a:srgbClr val="292638"/>
                </a:solidFill>
                <a:latin typeface="Futura" panose="020B0602020204020303"/>
                <a:cs typeface="Futura" panose="020B0602020204020303"/>
              </a:rPr>
              <a:t>/</a:t>
            </a:r>
            <a:r>
              <a:rPr lang="zh-CN" altLang="en-US" sz="1674" dirty="0">
                <a:solidFill>
                  <a:srgbClr val="292638"/>
                </a:solidFill>
                <a:latin typeface="Futura" panose="020B0602020204020303"/>
                <a:cs typeface="Futura" panose="020B0602020204020303"/>
              </a:rPr>
              <a:t> </a:t>
            </a:r>
            <a:r>
              <a:rPr lang="en-US" altLang="zh-CN" sz="1674" dirty="0">
                <a:solidFill>
                  <a:srgbClr val="292638"/>
                </a:solidFill>
                <a:latin typeface="Futura" panose="020B0602020204020303"/>
                <a:cs typeface="Futura" panose="020B0602020204020303"/>
              </a:rPr>
              <a:t>VEP</a:t>
            </a:r>
            <a:endParaRPr sz="1674" dirty="0"/>
          </a:p>
        </p:txBody>
      </p:sp>
      <p:cxnSp>
        <p:nvCxnSpPr>
          <p:cNvPr id="46" name="Editable_line_15"/>
          <p:cNvCxnSpPr/>
          <p:nvPr/>
        </p:nvCxnSpPr>
        <p:spPr>
          <a:xfrm>
            <a:off x="7730490" y="3298698"/>
            <a:ext cx="192024" cy="0"/>
          </a:xfrm>
          <a:prstGeom prst="straightConnector1">
            <a:avLst/>
          </a:prstGeom>
          <a:ln w="33020">
            <a:solidFill>
              <a:srgbClr val="342568"/>
            </a:solidFill>
            <a:tailEnd type="triangle"/>
          </a:ln>
        </p:spPr>
        <p:style>
          <a:lnRef idx="2">
            <a:schemeClr val="accent1"/>
          </a:lnRef>
          <a:fillRef idx="0">
            <a:schemeClr val="accent1"/>
          </a:fillRef>
          <a:effectRef idx="1">
            <a:schemeClr val="accent1"/>
          </a:effectRef>
          <a:fontRef idx="minor">
            <a:schemeClr val="tx1"/>
          </a:fontRef>
        </p:style>
      </p:cxnSp>
      <p:sp>
        <p:nvSpPr>
          <p:cNvPr id="21" name="Editable_round_20"/>
          <p:cNvSpPr>
            <a:spLocks noGrp="1"/>
          </p:cNvSpPr>
          <p:nvPr/>
        </p:nvSpPr>
        <p:spPr>
          <a:xfrm>
            <a:off x="1048512" y="4375404"/>
            <a:ext cx="3172968" cy="713232"/>
          </a:xfrm>
          <a:prstGeom prst="roundRect">
            <a:avLst>
              <a:gd name="adj" fmla="val 8000"/>
            </a:avLst>
          </a:prstGeom>
          <a:solidFill>
            <a:srgbClr val="EFEAFA"/>
          </a:solidFill>
          <a:ln w="19050">
            <a:solidFill>
              <a:srgbClr val="8C76B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972"/>
          </a:p>
        </p:txBody>
      </p:sp>
      <p:sp>
        <p:nvSpPr>
          <p:cNvPr id="22" name="Editable_text_21"/>
          <p:cNvSpPr>
            <a:spLocks noGrp="1"/>
          </p:cNvSpPr>
          <p:nvPr/>
        </p:nvSpPr>
        <p:spPr>
          <a:xfrm>
            <a:off x="1144524" y="4430268"/>
            <a:ext cx="2980944" cy="603504"/>
          </a:xfrm>
          <a:prstGeom prst="rect">
            <a:avLst/>
          </a:prstGeom>
          <a:noFill/>
        </p:spPr>
        <p:txBody>
          <a:bodyPr wrap="none" lIns="0" tIns="0" rIns="0" bIns="0" anchor="ctr"/>
          <a:lstStyle/>
          <a:p>
            <a:pPr algn="ctr">
              <a:lnSpc>
                <a:spcPts val="1941"/>
              </a:lnSpc>
            </a:pPr>
            <a:r>
              <a:rPr lang="en-US" altLang="zh-CN" sz="1674" dirty="0">
                <a:solidFill>
                  <a:srgbClr val="292638"/>
                </a:solidFill>
                <a:latin typeface="Futura" panose="020B0602020204020303"/>
                <a:ea typeface="Futura" panose="020B0602020204020303"/>
                <a:cs typeface="Futura" panose="020B0602020204020303"/>
              </a:rPr>
              <a:t>Editor</a:t>
            </a:r>
            <a:r>
              <a:rPr lang="zh-CN" altLang="en-US" sz="1674" dirty="0">
                <a:solidFill>
                  <a:srgbClr val="292638"/>
                </a:solidFill>
                <a:latin typeface="Futura" panose="020B0602020204020303"/>
                <a:ea typeface="Futura" panose="020B0602020204020303"/>
                <a:cs typeface="Futura" panose="020B0602020204020303"/>
              </a:rPr>
              <a:t> </a:t>
            </a:r>
            <a:r>
              <a:rPr lang="en-US" altLang="zh-CN" sz="1674" dirty="0">
                <a:solidFill>
                  <a:srgbClr val="292638"/>
                </a:solidFill>
                <a:latin typeface="Futura" panose="020B0602020204020303"/>
                <a:ea typeface="Futura" panose="020B0602020204020303"/>
                <a:cs typeface="Futura" panose="020B0602020204020303"/>
              </a:rPr>
              <a:t>comparison</a:t>
            </a:r>
          </a:p>
          <a:p>
            <a:pPr algn="ctr">
              <a:lnSpc>
                <a:spcPts val="1941"/>
              </a:lnSpc>
            </a:pPr>
            <a:r>
              <a:rPr lang="en-US" altLang="zh-CN" sz="1674" dirty="0">
                <a:solidFill>
                  <a:srgbClr val="292638"/>
                </a:solidFill>
                <a:latin typeface="Futura" panose="020B0602020204020303"/>
                <a:cs typeface="Futura" panose="020B0602020204020303"/>
              </a:rPr>
              <a:t>Sites</a:t>
            </a:r>
            <a:r>
              <a:rPr lang="zh-CN" altLang="en-US" sz="1674" dirty="0">
                <a:solidFill>
                  <a:srgbClr val="292638"/>
                </a:solidFill>
                <a:latin typeface="Futura" panose="020B0602020204020303"/>
                <a:cs typeface="Futura" panose="020B0602020204020303"/>
              </a:rPr>
              <a:t> </a:t>
            </a:r>
            <a:r>
              <a:rPr lang="en-US" altLang="zh-CN" sz="1674" dirty="0">
                <a:solidFill>
                  <a:srgbClr val="292638"/>
                </a:solidFill>
                <a:latin typeface="Futura" panose="020B0602020204020303"/>
                <a:cs typeface="Futura" panose="020B0602020204020303"/>
              </a:rPr>
              <a:t>/</a:t>
            </a:r>
            <a:r>
              <a:rPr lang="zh-CN" altLang="en-US" sz="1674" dirty="0">
                <a:solidFill>
                  <a:srgbClr val="292638"/>
                </a:solidFill>
                <a:latin typeface="Futura" panose="020B0602020204020303"/>
                <a:cs typeface="Futura" panose="020B0602020204020303"/>
              </a:rPr>
              <a:t> </a:t>
            </a:r>
            <a:r>
              <a:rPr lang="en-US" altLang="zh-CN" sz="1674" dirty="0">
                <a:solidFill>
                  <a:srgbClr val="292638"/>
                </a:solidFill>
                <a:latin typeface="Futura" panose="020B0602020204020303"/>
                <a:cs typeface="Futura" panose="020B0602020204020303"/>
              </a:rPr>
              <a:t>targets</a:t>
            </a:r>
            <a:r>
              <a:rPr lang="zh-CN" altLang="en-US" sz="1674" dirty="0">
                <a:solidFill>
                  <a:srgbClr val="292638"/>
                </a:solidFill>
                <a:latin typeface="Futura" panose="020B0602020204020303"/>
                <a:cs typeface="Futura" panose="020B0602020204020303"/>
              </a:rPr>
              <a:t> </a:t>
            </a:r>
            <a:r>
              <a:rPr lang="en-US" altLang="zh-CN" sz="1674" dirty="0">
                <a:solidFill>
                  <a:srgbClr val="292638"/>
                </a:solidFill>
                <a:latin typeface="Futura" panose="020B0602020204020303"/>
                <a:cs typeface="Futura" panose="020B0602020204020303"/>
              </a:rPr>
              <a:t>/</a:t>
            </a:r>
            <a:r>
              <a:rPr lang="zh-CN" altLang="en-US" sz="1674" dirty="0">
                <a:solidFill>
                  <a:srgbClr val="292638"/>
                </a:solidFill>
                <a:latin typeface="Futura" panose="020B0602020204020303"/>
                <a:cs typeface="Futura" panose="020B0602020204020303"/>
              </a:rPr>
              <a:t> </a:t>
            </a:r>
            <a:r>
              <a:rPr lang="en-US" altLang="zh-CN" sz="1674" dirty="0">
                <a:solidFill>
                  <a:srgbClr val="292638"/>
                </a:solidFill>
                <a:latin typeface="Futura" panose="020B0602020204020303"/>
                <a:cs typeface="Futura" panose="020B0602020204020303"/>
              </a:rPr>
              <a:t>context</a:t>
            </a:r>
            <a:endParaRPr sz="1674" dirty="0"/>
          </a:p>
        </p:txBody>
      </p:sp>
      <p:sp>
        <p:nvSpPr>
          <p:cNvPr id="23" name="Editable_round_22"/>
          <p:cNvSpPr>
            <a:spLocks noGrp="1"/>
          </p:cNvSpPr>
          <p:nvPr/>
        </p:nvSpPr>
        <p:spPr>
          <a:xfrm>
            <a:off x="4509517" y="4375404"/>
            <a:ext cx="3172968" cy="713232"/>
          </a:xfrm>
          <a:prstGeom prst="roundRect">
            <a:avLst>
              <a:gd name="adj" fmla="val 8000"/>
            </a:avLst>
          </a:prstGeom>
          <a:solidFill>
            <a:srgbClr val="EFEAFA"/>
          </a:solidFill>
          <a:ln w="19050">
            <a:solidFill>
              <a:srgbClr val="8C76B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972"/>
          </a:p>
        </p:txBody>
      </p:sp>
      <p:sp>
        <p:nvSpPr>
          <p:cNvPr id="24" name="Editable_text_23"/>
          <p:cNvSpPr>
            <a:spLocks noGrp="1"/>
          </p:cNvSpPr>
          <p:nvPr/>
        </p:nvSpPr>
        <p:spPr>
          <a:xfrm>
            <a:off x="4605529" y="4430268"/>
            <a:ext cx="2980944" cy="603504"/>
          </a:xfrm>
          <a:prstGeom prst="rect">
            <a:avLst/>
          </a:prstGeom>
          <a:noFill/>
        </p:spPr>
        <p:txBody>
          <a:bodyPr wrap="none" lIns="0" tIns="0" rIns="0" bIns="0" anchor="ctr"/>
          <a:lstStyle/>
          <a:p>
            <a:pPr algn="ctr">
              <a:lnSpc>
                <a:spcPts val="1941"/>
              </a:lnSpc>
            </a:pPr>
            <a:r>
              <a:rPr lang="en-US" altLang="zh-CN" sz="1674" dirty="0">
                <a:solidFill>
                  <a:srgbClr val="292638"/>
                </a:solidFill>
                <a:latin typeface="Futura" panose="020B0602020204020303"/>
                <a:ea typeface="Futura" panose="020B0602020204020303"/>
                <a:cs typeface="Futura" panose="020B0602020204020303"/>
              </a:rPr>
              <a:t>Editing</a:t>
            </a:r>
            <a:r>
              <a:rPr lang="zh-CN" altLang="en-US" sz="1674" dirty="0">
                <a:solidFill>
                  <a:srgbClr val="292638"/>
                </a:solidFill>
                <a:latin typeface="Futura" panose="020B0602020204020303"/>
                <a:ea typeface="Futura" panose="020B0602020204020303"/>
                <a:cs typeface="Futura" panose="020B0602020204020303"/>
              </a:rPr>
              <a:t> </a:t>
            </a:r>
            <a:r>
              <a:rPr lang="en-US" altLang="zh-CN" sz="1674" dirty="0">
                <a:solidFill>
                  <a:srgbClr val="292638"/>
                </a:solidFill>
                <a:latin typeface="Futura" panose="020B0602020204020303"/>
                <a:ea typeface="Futura" panose="020B0602020204020303"/>
                <a:cs typeface="Futura" panose="020B0602020204020303"/>
              </a:rPr>
              <a:t>quantification</a:t>
            </a:r>
          </a:p>
          <a:p>
            <a:pPr algn="ctr">
              <a:lnSpc>
                <a:spcPts val="1941"/>
              </a:lnSpc>
            </a:pPr>
            <a:r>
              <a:rPr lang="en-US" altLang="zh-CN" sz="1674" dirty="0">
                <a:solidFill>
                  <a:srgbClr val="292638"/>
                </a:solidFill>
                <a:latin typeface="Futura" panose="020B0602020204020303"/>
                <a:cs typeface="Futura" panose="020B0602020204020303"/>
              </a:rPr>
              <a:t>Four-replicate</a:t>
            </a:r>
            <a:r>
              <a:rPr lang="zh-CN" altLang="en-US" sz="1674" dirty="0">
                <a:solidFill>
                  <a:srgbClr val="292638"/>
                </a:solidFill>
                <a:latin typeface="Futura" panose="020B0602020204020303"/>
                <a:cs typeface="Futura" panose="020B0602020204020303"/>
              </a:rPr>
              <a:t> </a:t>
            </a:r>
            <a:r>
              <a:rPr lang="en-US" altLang="zh-CN" sz="1674" dirty="0">
                <a:solidFill>
                  <a:srgbClr val="292638"/>
                </a:solidFill>
                <a:latin typeface="Futura" panose="020B0602020204020303"/>
                <a:cs typeface="Futura" panose="020B0602020204020303"/>
              </a:rPr>
              <a:t>medians</a:t>
            </a:r>
            <a:endParaRPr sz="1674" dirty="0"/>
          </a:p>
        </p:txBody>
      </p:sp>
      <p:sp>
        <p:nvSpPr>
          <p:cNvPr id="26" name="Editable_round_25"/>
          <p:cNvSpPr>
            <a:spLocks noGrp="1"/>
          </p:cNvSpPr>
          <p:nvPr/>
        </p:nvSpPr>
        <p:spPr>
          <a:xfrm>
            <a:off x="7970520" y="4375404"/>
            <a:ext cx="3172968" cy="713232"/>
          </a:xfrm>
          <a:prstGeom prst="roundRect">
            <a:avLst>
              <a:gd name="adj" fmla="val 8000"/>
            </a:avLst>
          </a:prstGeom>
          <a:solidFill>
            <a:srgbClr val="EFEAFA"/>
          </a:solidFill>
          <a:ln w="19050">
            <a:solidFill>
              <a:srgbClr val="8C76B0"/>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972"/>
          </a:p>
        </p:txBody>
      </p:sp>
      <p:sp>
        <p:nvSpPr>
          <p:cNvPr id="27" name="Editable_text_26"/>
          <p:cNvSpPr>
            <a:spLocks noGrp="1"/>
          </p:cNvSpPr>
          <p:nvPr/>
        </p:nvSpPr>
        <p:spPr>
          <a:xfrm>
            <a:off x="8066532" y="4430268"/>
            <a:ext cx="2980944" cy="603504"/>
          </a:xfrm>
          <a:prstGeom prst="rect">
            <a:avLst/>
          </a:prstGeom>
          <a:noFill/>
        </p:spPr>
        <p:txBody>
          <a:bodyPr wrap="none" lIns="0" tIns="0" rIns="0" bIns="0" anchor="ctr"/>
          <a:lstStyle/>
          <a:p>
            <a:pPr algn="ctr">
              <a:lnSpc>
                <a:spcPts val="1941"/>
              </a:lnSpc>
            </a:pPr>
            <a:r>
              <a:rPr lang="en-US" altLang="zh-CN" sz="1674" dirty="0">
                <a:solidFill>
                  <a:srgbClr val="292638"/>
                </a:solidFill>
                <a:latin typeface="Futura" panose="020B0602020204020303"/>
                <a:ea typeface="Futura" panose="020B0602020204020303"/>
                <a:cs typeface="Futura" panose="020B0602020204020303"/>
              </a:rPr>
              <a:t>SNP</a:t>
            </a:r>
            <a:r>
              <a:rPr lang="zh-CN" altLang="en-US" sz="1674" dirty="0">
                <a:solidFill>
                  <a:srgbClr val="292638"/>
                </a:solidFill>
                <a:latin typeface="Futura" panose="020B0602020204020303"/>
                <a:ea typeface="Futura" panose="020B0602020204020303"/>
                <a:cs typeface="Futura" panose="020B0602020204020303"/>
              </a:rPr>
              <a:t> </a:t>
            </a:r>
            <a:r>
              <a:rPr lang="en-US" altLang="zh-CN" sz="1674" dirty="0">
                <a:solidFill>
                  <a:srgbClr val="292638"/>
                </a:solidFill>
                <a:latin typeface="Futura" panose="020B0602020204020303"/>
                <a:ea typeface="Futura" panose="020B0602020204020303"/>
                <a:cs typeface="Futura" panose="020B0602020204020303"/>
              </a:rPr>
              <a:t>/</a:t>
            </a:r>
            <a:r>
              <a:rPr lang="zh-CN" altLang="en-US" sz="1674" dirty="0">
                <a:solidFill>
                  <a:srgbClr val="292638"/>
                </a:solidFill>
                <a:latin typeface="Futura" panose="020B0602020204020303"/>
                <a:ea typeface="Futura" panose="020B0602020204020303"/>
                <a:cs typeface="Futura" panose="020B0602020204020303"/>
              </a:rPr>
              <a:t> </a:t>
            </a:r>
            <a:r>
              <a:rPr lang="en-US" altLang="zh-CN" sz="1674" dirty="0">
                <a:solidFill>
                  <a:srgbClr val="292638"/>
                </a:solidFill>
                <a:latin typeface="Futura" panose="020B0602020204020303"/>
                <a:ea typeface="Futura" panose="020B0602020204020303"/>
                <a:cs typeface="Futura" panose="020B0602020204020303"/>
              </a:rPr>
              <a:t>sequence</a:t>
            </a:r>
            <a:r>
              <a:rPr lang="zh-CN" altLang="en-US" sz="1674" dirty="0">
                <a:solidFill>
                  <a:srgbClr val="292638"/>
                </a:solidFill>
                <a:latin typeface="Futura" panose="020B0602020204020303"/>
                <a:ea typeface="Futura" panose="020B0602020204020303"/>
                <a:cs typeface="Futura" panose="020B0602020204020303"/>
              </a:rPr>
              <a:t> </a:t>
            </a:r>
            <a:r>
              <a:rPr lang="en-US" altLang="zh-CN" sz="1674" dirty="0">
                <a:solidFill>
                  <a:srgbClr val="292638"/>
                </a:solidFill>
                <a:latin typeface="Futura" panose="020B0602020204020303"/>
                <a:ea typeface="Futura" panose="020B0602020204020303"/>
                <a:cs typeface="Futura" panose="020B0602020204020303"/>
              </a:rPr>
              <a:t>filters</a:t>
            </a:r>
          </a:p>
          <a:p>
            <a:pPr algn="ctr">
              <a:lnSpc>
                <a:spcPts val="1941"/>
              </a:lnSpc>
            </a:pPr>
            <a:r>
              <a:rPr lang="en-US" altLang="zh-CN" sz="1674" dirty="0">
                <a:solidFill>
                  <a:srgbClr val="292638"/>
                </a:solidFill>
                <a:latin typeface="Futura" panose="020B0602020204020303"/>
                <a:cs typeface="Futura" panose="020B0602020204020303"/>
              </a:rPr>
              <a:t>Control</a:t>
            </a:r>
            <a:r>
              <a:rPr lang="zh-CN" altLang="en-US" sz="1674" dirty="0">
                <a:solidFill>
                  <a:srgbClr val="292638"/>
                </a:solidFill>
                <a:latin typeface="Futura" panose="020B0602020204020303"/>
                <a:cs typeface="Futura" panose="020B0602020204020303"/>
              </a:rPr>
              <a:t> </a:t>
            </a:r>
            <a:r>
              <a:rPr lang="en-US" altLang="zh-CN" sz="1674" dirty="0">
                <a:solidFill>
                  <a:srgbClr val="292638"/>
                </a:solidFill>
                <a:latin typeface="Futura" panose="020B0602020204020303"/>
                <a:cs typeface="Futura" panose="020B0602020204020303"/>
              </a:rPr>
              <a:t>/</a:t>
            </a:r>
            <a:r>
              <a:rPr lang="zh-CN" altLang="en-US" sz="1674" dirty="0">
                <a:solidFill>
                  <a:srgbClr val="292638"/>
                </a:solidFill>
                <a:latin typeface="Futura" panose="020B0602020204020303"/>
                <a:cs typeface="Futura" panose="020B0602020204020303"/>
              </a:rPr>
              <a:t> </a:t>
            </a:r>
            <a:r>
              <a:rPr lang="en-US" altLang="zh-CN" sz="1674" dirty="0">
                <a:solidFill>
                  <a:srgbClr val="292638"/>
                </a:solidFill>
                <a:latin typeface="Futura" panose="020B0602020204020303"/>
                <a:cs typeface="Futura" panose="020B0602020204020303"/>
              </a:rPr>
              <a:t>FDR</a:t>
            </a:r>
            <a:r>
              <a:rPr lang="zh-CN" altLang="en-US" sz="1674" dirty="0">
                <a:solidFill>
                  <a:srgbClr val="292638"/>
                </a:solidFill>
                <a:latin typeface="Futura" panose="020B0602020204020303"/>
                <a:cs typeface="Futura" panose="020B0602020204020303"/>
              </a:rPr>
              <a:t> </a:t>
            </a:r>
            <a:r>
              <a:rPr lang="en-US" altLang="zh-CN" sz="1674" dirty="0">
                <a:solidFill>
                  <a:srgbClr val="292638"/>
                </a:solidFill>
                <a:latin typeface="Futura" panose="020B0602020204020303"/>
                <a:cs typeface="Futura" panose="020B0602020204020303"/>
              </a:rPr>
              <a:t>screening</a:t>
            </a:r>
            <a:endParaRPr sz="1674" dirty="0"/>
          </a:p>
        </p:txBody>
      </p:sp>
      <p:sp>
        <p:nvSpPr>
          <p:cNvPr id="31" name="Editable_round_30"/>
          <p:cNvSpPr>
            <a:spLocks noGrp="1"/>
          </p:cNvSpPr>
          <p:nvPr/>
        </p:nvSpPr>
        <p:spPr>
          <a:xfrm>
            <a:off x="1048512" y="5404104"/>
            <a:ext cx="10094976" cy="795528"/>
          </a:xfrm>
          <a:prstGeom prst="roundRect">
            <a:avLst>
              <a:gd name="adj" fmla="val 8000"/>
            </a:avLst>
          </a:prstGeom>
          <a:solidFill>
            <a:srgbClr val="EFEAFA"/>
          </a:solidFill>
          <a:ln w="19050">
            <a:solidFill>
              <a:srgbClr val="DCD8E5"/>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sz="972"/>
          </a:p>
        </p:txBody>
      </p:sp>
      <p:sp>
        <p:nvSpPr>
          <p:cNvPr id="32" name="Editable_text_31"/>
          <p:cNvSpPr>
            <a:spLocks noGrp="1"/>
          </p:cNvSpPr>
          <p:nvPr/>
        </p:nvSpPr>
        <p:spPr>
          <a:xfrm>
            <a:off x="1213104" y="5520690"/>
            <a:ext cx="1783080" cy="589788"/>
          </a:xfrm>
          <a:prstGeom prst="rect">
            <a:avLst/>
          </a:prstGeom>
          <a:noFill/>
        </p:spPr>
        <p:txBody>
          <a:bodyPr wrap="none" lIns="0" tIns="0" rIns="0" bIns="0" anchor="ctr"/>
          <a:lstStyle/>
          <a:p>
            <a:pPr>
              <a:lnSpc>
                <a:spcPts val="1755"/>
              </a:lnSpc>
            </a:pPr>
            <a:r>
              <a:rPr sz="1512" b="1">
                <a:solidFill>
                  <a:srgbClr val="342568"/>
                </a:solidFill>
                <a:latin typeface="Futura" panose="020B0602020204020303"/>
                <a:ea typeface="Futura" panose="020B0602020204020303"/>
                <a:cs typeface="Futura" panose="020B0602020204020303"/>
              </a:rPr>
              <a:t>Outputs</a:t>
            </a:r>
            <a:endParaRPr sz="1512"/>
          </a:p>
        </p:txBody>
      </p:sp>
      <p:sp>
        <p:nvSpPr>
          <p:cNvPr id="33" name="Editable_text_32"/>
          <p:cNvSpPr>
            <a:spLocks noGrp="1"/>
          </p:cNvSpPr>
          <p:nvPr/>
        </p:nvSpPr>
        <p:spPr>
          <a:xfrm>
            <a:off x="2299068" y="5520690"/>
            <a:ext cx="7818120" cy="589788"/>
          </a:xfrm>
          <a:prstGeom prst="rect">
            <a:avLst/>
          </a:prstGeom>
          <a:noFill/>
        </p:spPr>
        <p:txBody>
          <a:bodyPr wrap="none" lIns="0" tIns="0" rIns="0" bIns="0" anchor="ctr"/>
          <a:lstStyle/>
          <a:p>
            <a:pPr>
              <a:lnSpc>
                <a:spcPts val="1690"/>
              </a:lnSpc>
            </a:pPr>
            <a:r>
              <a:rPr lang="en-US" altLang="zh-CN" sz="1458" dirty="0">
                <a:solidFill>
                  <a:srgbClr val="292638"/>
                </a:solidFill>
                <a:latin typeface="Futura" panose="020B0602020204020303"/>
                <a:ea typeface="Futura" panose="020B0602020204020303"/>
                <a:cs typeface="Futura" panose="020B0602020204020303"/>
              </a:rPr>
              <a:t>Candidate</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sites</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Editing</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profiles</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Planned</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training</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and</a:t>
            </a:r>
            <a:r>
              <a:rPr lang="zh-CN" altLang="en-US" sz="1458" dirty="0">
                <a:solidFill>
                  <a:srgbClr val="292638"/>
                </a:solidFill>
                <a:latin typeface="Futura" panose="020B0602020204020303"/>
                <a:ea typeface="Futura" panose="020B0602020204020303"/>
                <a:cs typeface="Futura" panose="020B0602020204020303"/>
              </a:rPr>
              <a:t> </a:t>
            </a:r>
            <a:r>
              <a:rPr lang="en-US" altLang="zh-CN" sz="1458" dirty="0">
                <a:solidFill>
                  <a:srgbClr val="292638"/>
                </a:solidFill>
                <a:latin typeface="Futura" panose="020B0602020204020303"/>
                <a:ea typeface="Futura" panose="020B0602020204020303"/>
                <a:cs typeface="Futura" panose="020B0602020204020303"/>
              </a:rPr>
              <a:t>evaluation</a:t>
            </a:r>
            <a:endParaRPr sz="1458" dirty="0"/>
          </a:p>
        </p:txBody>
      </p:sp>
      <p:cxnSp>
        <p:nvCxnSpPr>
          <p:cNvPr id="4" name="Snake_RNAseq_down"/>
          <p:cNvCxnSpPr/>
          <p:nvPr/>
        </p:nvCxnSpPr>
        <p:spPr>
          <a:xfrm>
            <a:off x="9557006" y="3655314"/>
            <a:ext cx="0" cy="720090"/>
          </a:xfrm>
          <a:prstGeom prst="line">
            <a:avLst/>
          </a:prstGeom>
          <a:ln w="33020">
            <a:solidFill>
              <a:srgbClr val="342568"/>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nake_RNAseq_left_1"/>
          <p:cNvCxnSpPr/>
          <p:nvPr/>
        </p:nvCxnSpPr>
        <p:spPr>
          <a:xfrm flipH="1">
            <a:off x="4269488" y="4732020"/>
            <a:ext cx="192024" cy="0"/>
          </a:xfrm>
          <a:prstGeom prst="line">
            <a:avLst/>
          </a:prstGeom>
          <a:ln w="33020">
            <a:solidFill>
              <a:srgbClr val="342568"/>
            </a:solidFill>
            <a:headEnd type="none"/>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nake_RNAseq_left_2"/>
          <p:cNvCxnSpPr/>
          <p:nvPr/>
        </p:nvCxnSpPr>
        <p:spPr>
          <a:xfrm flipH="1">
            <a:off x="7730488" y="4732020"/>
            <a:ext cx="192024" cy="0"/>
          </a:xfrm>
          <a:prstGeom prst="line">
            <a:avLst/>
          </a:prstGeom>
          <a:ln w="33020">
            <a:solidFill>
              <a:srgbClr val="342568"/>
            </a:solidFill>
            <a:headEnd type="none"/>
            <a:tailEnd type="triangle" w="med" len="med"/>
          </a:ln>
        </p:spPr>
        <p:style>
          <a:lnRef idx="1">
            <a:schemeClr val="accent1"/>
          </a:lnRef>
          <a:fillRef idx="0">
            <a:schemeClr val="accent1"/>
          </a:fillRef>
          <a:effectRef idx="0">
            <a:schemeClr val="accent1"/>
          </a:effectRef>
          <a:fontRef idx="minor">
            <a:schemeClr val="tx1"/>
          </a:fontRef>
        </p:style>
      </p:cxnSp>
      <p:pic>
        <p:nvPicPr>
          <p:cNvPr id="17" name="图片 16">
            <a:extLst>
              <a:ext uri="{FF2B5EF4-FFF2-40B4-BE49-F238E27FC236}">
                <a16:creationId xmlns:a16="http://schemas.microsoft.com/office/drawing/2014/main" id="{CA0F3B28-7EF8-8691-21A5-E72110AFCAA8}"/>
              </a:ext>
            </a:extLst>
          </p:cNvPr>
          <p:cNvPicPr>
            <a:picLocks noChangeAspect="1"/>
          </p:cNvPicPr>
          <p:nvPr/>
        </p:nvPicPr>
        <p:blipFill>
          <a:blip r:embed="rId3"/>
          <a:stretch>
            <a:fillRect/>
          </a:stretch>
        </p:blipFill>
        <p:spPr>
          <a:xfrm>
            <a:off x="1463040" y="1188720"/>
            <a:ext cx="2372868" cy="1581912"/>
          </a:xfrm>
          <a:prstGeom prst="rect">
            <a:avLst/>
          </a:prstGeom>
        </p:spPr>
      </p:pic>
      <p:pic>
        <p:nvPicPr>
          <p:cNvPr id="19" name="图片 18">
            <a:extLst>
              <a:ext uri="{FF2B5EF4-FFF2-40B4-BE49-F238E27FC236}">
                <a16:creationId xmlns:a16="http://schemas.microsoft.com/office/drawing/2014/main" id="{EC1ECC2A-7E29-3B3D-F1D6-6F875ECECAF6}"/>
              </a:ext>
            </a:extLst>
          </p:cNvPr>
          <p:cNvPicPr>
            <a:picLocks noChangeAspect="1"/>
          </p:cNvPicPr>
          <p:nvPr/>
        </p:nvPicPr>
        <p:blipFill>
          <a:blip r:embed="rId4"/>
          <a:stretch>
            <a:fillRect/>
          </a:stretch>
        </p:blipFill>
        <p:spPr>
          <a:xfrm>
            <a:off x="4727448" y="1298448"/>
            <a:ext cx="2743200" cy="1370053"/>
          </a:xfrm>
          <a:prstGeom prst="rect">
            <a:avLst/>
          </a:prstGeom>
        </p:spPr>
      </p:pic>
      <p:pic>
        <p:nvPicPr>
          <p:cNvPr id="25" name="图片 24">
            <a:extLst>
              <a:ext uri="{FF2B5EF4-FFF2-40B4-BE49-F238E27FC236}">
                <a16:creationId xmlns:a16="http://schemas.microsoft.com/office/drawing/2014/main" id="{A6BE1E29-91CC-B824-31B8-219D98BF5DD1}"/>
              </a:ext>
            </a:extLst>
          </p:cNvPr>
          <p:cNvPicPr>
            <a:picLocks noChangeAspect="1"/>
          </p:cNvPicPr>
          <p:nvPr/>
        </p:nvPicPr>
        <p:blipFill>
          <a:blip r:embed="rId5"/>
          <a:stretch>
            <a:fillRect/>
          </a:stretch>
        </p:blipFill>
        <p:spPr>
          <a:xfrm>
            <a:off x="8165592" y="1298448"/>
            <a:ext cx="2743200" cy="1370053"/>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282</Words>
  <Application>Microsoft Macintosh PowerPoint</Application>
  <PresentationFormat>宽屏</PresentationFormat>
  <Paragraphs>27</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等线</vt:lpstr>
      <vt:lpstr>等线 Light</vt:lpstr>
      <vt:lpstr>Arial</vt:lpstr>
      <vt:lpstr>Futura</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i2762</dc:creator>
  <cp:lastModifiedBy>i2762</cp:lastModifiedBy>
  <cp:revision>2</cp:revision>
  <dcterms:created xsi:type="dcterms:W3CDTF">2026-09-27T04:09:04Z</dcterms:created>
  <dcterms:modified xsi:type="dcterms:W3CDTF">2026-09-27T05:01:09Z</dcterms:modified>
</cp:coreProperties>
</file>